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74" r:id="rId10"/>
    <p:sldId id="275" r:id="rId11"/>
    <p:sldId id="276" r:id="rId12"/>
    <p:sldId id="277" r:id="rId13"/>
    <p:sldId id="264" r:id="rId14"/>
    <p:sldId id="266" r:id="rId15"/>
    <p:sldId id="267" r:id="rId16"/>
    <p:sldId id="268" r:id="rId17"/>
    <p:sldId id="269" r:id="rId18"/>
    <p:sldId id="272" r:id="rId19"/>
    <p:sldId id="273" r:id="rId20"/>
    <p:sldId id="270" r:id="rId21"/>
    <p:sldId id="271" r:id="rId2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4" roundtripDataSignature="AMtx7mgb3W1nguJpyLvdkVeio7GQyZY/L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063BE5B-8E01-4B91-9C5C-8479B17E1E5F}">
  <a:tblStyle styleId="{F063BE5B-8E01-4B91-9C5C-8479B17E1E5F}"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 name="Google Shape;76;p3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3" name="Google Shape;93;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9" name="Google Shape;99;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5" name="Google Shape;105;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1" name="Google Shape;111;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3" name="Google Shape;123;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9" name="Google Shape;12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5" name="Google Shape;135;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5" name="Google Shape;155;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1" name="Google Shape;161;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0" name="Google Shape;170;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a:extLst>
            <a:ext uri="{FF2B5EF4-FFF2-40B4-BE49-F238E27FC236}">
              <a16:creationId xmlns:a16="http://schemas.microsoft.com/office/drawing/2014/main" id="{D90003CD-447D-8709-2E3C-1A994FE2C8C1}"/>
            </a:ext>
          </a:extLst>
        </p:cNvPr>
        <p:cNvGrpSpPr/>
        <p:nvPr/>
      </p:nvGrpSpPr>
      <p:grpSpPr>
        <a:xfrm>
          <a:off x="0" y="0"/>
          <a:ext cx="0" cy="0"/>
          <a:chOff x="0" y="0"/>
          <a:chExt cx="0" cy="0"/>
        </a:xfrm>
      </p:grpSpPr>
      <p:sp>
        <p:nvSpPr>
          <p:cNvPr id="178" name="Google Shape;178;p43:notes">
            <a:extLst>
              <a:ext uri="{FF2B5EF4-FFF2-40B4-BE49-F238E27FC236}">
                <a16:creationId xmlns:a16="http://schemas.microsoft.com/office/drawing/2014/main" id="{425DA3EC-403F-6331-F3AB-A1CFCCE6591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p43:notes">
            <a:extLst>
              <a:ext uri="{FF2B5EF4-FFF2-40B4-BE49-F238E27FC236}">
                <a16:creationId xmlns:a16="http://schemas.microsoft.com/office/drawing/2014/main" id="{DF93C396-4AB6-8095-2335-068CA0B41C9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265769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a:extLst>
            <a:ext uri="{FF2B5EF4-FFF2-40B4-BE49-F238E27FC236}">
              <a16:creationId xmlns:a16="http://schemas.microsoft.com/office/drawing/2014/main" id="{8998611B-4928-F4F1-D2F5-57428EB112C5}"/>
            </a:ext>
          </a:extLst>
        </p:cNvPr>
        <p:cNvGrpSpPr/>
        <p:nvPr/>
      </p:nvGrpSpPr>
      <p:grpSpPr>
        <a:xfrm>
          <a:off x="0" y="0"/>
          <a:ext cx="0" cy="0"/>
          <a:chOff x="0" y="0"/>
          <a:chExt cx="0" cy="0"/>
        </a:xfrm>
      </p:grpSpPr>
      <p:sp>
        <p:nvSpPr>
          <p:cNvPr id="185" name="Google Shape;185;p44:notes">
            <a:extLst>
              <a:ext uri="{FF2B5EF4-FFF2-40B4-BE49-F238E27FC236}">
                <a16:creationId xmlns:a16="http://schemas.microsoft.com/office/drawing/2014/main" id="{E1F78343-F5E8-B582-8818-D31AA10D9A6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 name="Google Shape;186;p44:notes">
            <a:extLst>
              <a:ext uri="{FF2B5EF4-FFF2-40B4-BE49-F238E27FC236}">
                <a16:creationId xmlns:a16="http://schemas.microsoft.com/office/drawing/2014/main" id="{BFD9FDB9-02FD-9253-3FD6-F0C58275661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241182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 name="Google Shape;186;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3" name="Google Shape;193;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4" name="Google Shape;14;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3"/>
        <p:cNvGrpSpPr/>
        <p:nvPr/>
      </p:nvGrpSpPr>
      <p:grpSpPr>
        <a:xfrm>
          <a:off x="0" y="0"/>
          <a:ext cx="0" cy="0"/>
          <a:chOff x="0" y="0"/>
          <a:chExt cx="0" cy="0"/>
        </a:xfrm>
      </p:grpSpPr>
      <p:sp>
        <p:nvSpPr>
          <p:cNvPr id="24" name="Google Shape;24;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
        <p:cNvGrpSpPr/>
        <p:nvPr/>
      </p:nvGrpSpPr>
      <p:grpSpPr>
        <a:xfrm>
          <a:off x="0" y="0"/>
          <a:ext cx="0" cy="0"/>
          <a:chOff x="0" y="0"/>
          <a:chExt cx="0" cy="0"/>
        </a:xfrm>
      </p:grpSpPr>
      <p:sp>
        <p:nvSpPr>
          <p:cNvPr id="31" name="Google Shape;31;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3" name="Google Shape;33;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5" name="Google Shape;35;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
        <p:cNvGrpSpPr/>
        <p:nvPr/>
      </p:nvGrpSpPr>
      <p:grpSpPr>
        <a:xfrm>
          <a:off x="0" y="0"/>
          <a:ext cx="0" cy="0"/>
          <a:chOff x="0" y="0"/>
          <a:chExt cx="0" cy="0"/>
        </a:xfrm>
      </p:grpSpPr>
      <p:sp>
        <p:nvSpPr>
          <p:cNvPr id="45" name="Google Shape;45;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8"/>
        <p:cNvGrpSpPr/>
        <p:nvPr/>
      </p:nvGrpSpPr>
      <p:grpSpPr>
        <a:xfrm>
          <a:off x="0" y="0"/>
          <a:ext cx="0" cy="0"/>
          <a:chOff x="0" y="0"/>
          <a:chExt cx="0" cy="0"/>
        </a:xfrm>
      </p:grpSpPr>
      <p:sp>
        <p:nvSpPr>
          <p:cNvPr id="49" name="Google Shape;49;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1" name="Google Shape;51;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2" name="Google Shape;5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5"/>
        <p:cNvGrpSpPr/>
        <p:nvPr/>
      </p:nvGrpSpPr>
      <p:grpSpPr>
        <a:xfrm>
          <a:off x="0" y="0"/>
          <a:ext cx="0" cy="0"/>
          <a:chOff x="0" y="0"/>
          <a:chExt cx="0" cy="0"/>
        </a:xfrm>
      </p:grpSpPr>
      <p:sp>
        <p:nvSpPr>
          <p:cNvPr id="56" name="Google Shape;56;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0"/>
          <p:cNvSpPr>
            <a:spLocks noGrp="1"/>
          </p:cNvSpPr>
          <p:nvPr>
            <p:ph type="pic" idx="2"/>
          </p:nvPr>
        </p:nvSpPr>
        <p:spPr>
          <a:xfrm>
            <a:off x="5183188" y="987425"/>
            <a:ext cx="6172200" cy="4873625"/>
          </a:xfrm>
          <a:prstGeom prst="rect">
            <a:avLst/>
          </a:prstGeom>
          <a:noFill/>
          <a:ln>
            <a:noFill/>
          </a:ln>
        </p:spPr>
      </p:sp>
      <p:sp>
        <p:nvSpPr>
          <p:cNvPr id="58" name="Google Shape;58;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9" name="Google Shape;59;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2"/>
        <p:cNvGrpSpPr/>
        <p:nvPr/>
      </p:nvGrpSpPr>
      <p:grpSpPr>
        <a:xfrm>
          <a:off x="0" y="0"/>
          <a:ext cx="0" cy="0"/>
          <a:chOff x="0" y="0"/>
          <a:chExt cx="0" cy="0"/>
        </a:xfrm>
      </p:grpSpPr>
      <p:sp>
        <p:nvSpPr>
          <p:cNvPr id="63" name="Google Shape;63;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8"/>
        <p:cNvGrpSpPr/>
        <p:nvPr/>
      </p:nvGrpSpPr>
      <p:grpSpPr>
        <a:xfrm>
          <a:off x="0" y="0"/>
          <a:ext cx="0" cy="0"/>
          <a:chOff x="0" y="0"/>
          <a:chExt cx="0" cy="0"/>
        </a:xfrm>
      </p:grpSpPr>
      <p:sp>
        <p:nvSpPr>
          <p:cNvPr id="69" name="Google Shape;69;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drishtiguptaa/explainit-course-simplifier.git"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hyperlink" Target="https://explainit-course-simplifier.onrender.com/" TargetMode="Externa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3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sz="6600" b="1"/>
              <a:t>IBM University Engagement Project Submission</a:t>
            </a:r>
            <a:br>
              <a:rPr lang="en-US" b="1"/>
            </a:br>
            <a:endParaRPr/>
          </a:p>
        </p:txBody>
      </p:sp>
      <p:sp>
        <p:nvSpPr>
          <p:cNvPr id="79" name="Google Shape;79;p33"/>
          <p:cNvSpPr txBox="1">
            <a:spLocks noGrp="1"/>
          </p:cNvSpPr>
          <p:nvPr>
            <p:ph type="body" idx="1"/>
          </p:nvPr>
        </p:nvSpPr>
        <p:spPr>
          <a:xfrm>
            <a:off x="1014730" y="3903663"/>
            <a:ext cx="10515600" cy="1500187"/>
          </a:xfrm>
          <a:prstGeom prst="rect">
            <a:avLst/>
          </a:prstGeom>
          <a:noFill/>
          <a:ln>
            <a:noFill/>
          </a:ln>
        </p:spPr>
        <p:txBody>
          <a:bodyPr spcFirstLastPara="1" wrap="square" lIns="91425" tIns="45700" rIns="91425" bIns="45700" anchor="t" anchorCtr="0">
            <a:normAutofit/>
          </a:bodyPr>
          <a:lstStyle/>
          <a:p>
            <a:pPr marL="457200" lvl="0" indent="-228600" algn="ctr" rtl="0">
              <a:lnSpc>
                <a:spcPct val="90000"/>
              </a:lnSpc>
              <a:spcBef>
                <a:spcPts val="1000"/>
              </a:spcBef>
              <a:spcAft>
                <a:spcPts val="0"/>
              </a:spcAft>
              <a:buSzPts val="2400"/>
              <a:buNone/>
            </a:pPr>
            <a:r>
              <a:rPr lang="en-US" b="1" i="1"/>
              <a:t>“Exploring the Power of Agentic AI with IBM Granite and LangFlow”</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85" name="Google Shape;8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86" name="Google Shape;86;p2"/>
          <p:cNvGraphicFramePr/>
          <p:nvPr>
            <p:extLst>
              <p:ext uri="{D42A27DB-BD31-4B8C-83A1-F6EECF244321}">
                <p14:modId xmlns:p14="http://schemas.microsoft.com/office/powerpoint/2010/main" val="1584184830"/>
              </p:ext>
            </p:extLst>
          </p:nvPr>
        </p:nvGraphicFramePr>
        <p:xfrm>
          <a:off x="1299257" y="2600315"/>
          <a:ext cx="9395000" cy="2167125"/>
        </p:xfrm>
        <a:graphic>
          <a:graphicData uri="http://schemas.openxmlformats.org/drawingml/2006/table">
            <a:tbl>
              <a:tblPr>
                <a:noFill/>
                <a:tableStyleId>{F063BE5B-8E01-4B91-9C5C-8479B17E1E5F}</a:tableStyleId>
              </a:tblPr>
              <a:tblGrid>
                <a:gridCol w="2064875">
                  <a:extLst>
                    <a:ext uri="{9D8B030D-6E8A-4147-A177-3AD203B41FA5}">
                      <a16:colId xmlns:a16="http://schemas.microsoft.com/office/drawing/2014/main" val="20000"/>
                    </a:ext>
                  </a:extLst>
                </a:gridCol>
                <a:gridCol w="2443375">
                  <a:extLst>
                    <a:ext uri="{9D8B030D-6E8A-4147-A177-3AD203B41FA5}">
                      <a16:colId xmlns:a16="http://schemas.microsoft.com/office/drawing/2014/main" val="20001"/>
                    </a:ext>
                  </a:extLst>
                </a:gridCol>
                <a:gridCol w="2443375">
                  <a:extLst>
                    <a:ext uri="{9D8B030D-6E8A-4147-A177-3AD203B41FA5}">
                      <a16:colId xmlns:a16="http://schemas.microsoft.com/office/drawing/2014/main" val="20002"/>
                    </a:ext>
                  </a:extLst>
                </a:gridCol>
                <a:gridCol w="2443375">
                  <a:extLst>
                    <a:ext uri="{9D8B030D-6E8A-4147-A177-3AD203B41FA5}">
                      <a16:colId xmlns:a16="http://schemas.microsoft.com/office/drawing/2014/main" val="20003"/>
                    </a:ext>
                  </a:extLst>
                </a:gridCol>
              </a:tblGrid>
              <a:tr h="9732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Recent Passport Photo</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Email ID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Mobile number</a:t>
                      </a:r>
                      <a:endParaRPr sz="18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[WhatsApp]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900">
                <a:tc>
                  <a:txBody>
                    <a:bodyPr/>
                    <a:lstStyle/>
                    <a:p>
                      <a:pPr marL="0" marR="0" lvl="0" indent="0" algn="l" rtl="0">
                        <a:lnSpc>
                          <a:spcPct val="100000"/>
                        </a:lnSpc>
                        <a:spcBef>
                          <a:spcPts val="0"/>
                        </a:spcBef>
                        <a:spcAft>
                          <a:spcPts val="0"/>
                        </a:spcAft>
                        <a:buClr>
                          <a:srgbClr val="000000"/>
                        </a:buClr>
                        <a:buSzPts val="1400"/>
                        <a:buFont typeface="Arial"/>
                        <a:buNone/>
                      </a:pPr>
                      <a:r>
                        <a:rPr lang="en-IN" sz="1400" u="none" strike="noStrike" cap="none" dirty="0"/>
                        <a:t> DRISHTI GUPTA</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IN" sz="1400" u="none" strike="noStrike" cap="none" dirty="0"/>
                        <a:t>drishtigupta605@gmail.com</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IN" sz="1400" u="none" strike="noStrike" cap="none" dirty="0"/>
                        <a:t>9220860667</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88" name="Google Shape;88;p2"/>
          <p:cNvSpPr txBox="1"/>
          <p:nvPr/>
        </p:nvSpPr>
        <p:spPr>
          <a:xfrm>
            <a:off x="1206164" y="1460724"/>
            <a:ext cx="102802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Domain of  Project –  Education</a:t>
            </a:r>
            <a:endParaRPr sz="2400" b="1" i="0" u="none" strike="noStrike" cap="none" dirty="0">
              <a:solidFill>
                <a:srgbClr val="000000"/>
              </a:solidFill>
              <a:latin typeface="Arial"/>
              <a:ea typeface="Arial"/>
              <a:cs typeface="Arial"/>
              <a:sym typeface="Arial"/>
            </a:endParaRPr>
          </a:p>
        </p:txBody>
      </p:sp>
      <p:sp>
        <p:nvSpPr>
          <p:cNvPr id="89" name="Google Shape;89;p2"/>
          <p:cNvSpPr txBox="1"/>
          <p:nvPr/>
        </p:nvSpPr>
        <p:spPr>
          <a:xfrm>
            <a:off x="1206162" y="551965"/>
            <a:ext cx="9581177" cy="461624"/>
          </a:xfrm>
          <a:prstGeom prst="rect">
            <a:avLst/>
          </a:prstGeom>
          <a:noFill/>
          <a:ln>
            <a:noFill/>
          </a:ln>
        </p:spPr>
        <p:txBody>
          <a:bodyPr spcFirstLastPara="1" wrap="square" lIns="91425" tIns="45700" rIns="91425" bIns="45700" anchor="t" anchorCtr="0">
            <a:spAutoFit/>
          </a:bodyPr>
          <a:lstStyle/>
          <a:p>
            <a:r>
              <a:rPr lang="en-US" sz="2400" b="1" i="0" u="none" strike="noStrike" cap="none" dirty="0">
                <a:solidFill>
                  <a:srgbClr val="000000"/>
                </a:solidFill>
                <a:latin typeface="Arial"/>
                <a:ea typeface="Arial"/>
                <a:cs typeface="Arial"/>
                <a:sym typeface="Arial"/>
              </a:rPr>
              <a:t>Project Tile –  </a:t>
            </a:r>
            <a:r>
              <a:rPr lang="en-US" sz="2400" b="1" dirty="0"/>
              <a:t>Course Content Simplification Agent</a:t>
            </a:r>
          </a:p>
        </p:txBody>
      </p:sp>
      <p:pic>
        <p:nvPicPr>
          <p:cNvPr id="3" name="Picture 2">
            <a:extLst>
              <a:ext uri="{FF2B5EF4-FFF2-40B4-BE49-F238E27FC236}">
                <a16:creationId xmlns:a16="http://schemas.microsoft.com/office/drawing/2014/main" id="{4FAE9AC8-5050-B7D7-D823-1CF7E6ED32AF}"/>
              </a:ext>
            </a:extLst>
          </p:cNvPr>
          <p:cNvPicPr>
            <a:picLocks noChangeAspect="1"/>
          </p:cNvPicPr>
          <p:nvPr/>
        </p:nvPicPr>
        <p:blipFill>
          <a:blip r:embed="rId3"/>
          <a:stretch>
            <a:fillRect/>
          </a:stretch>
        </p:blipFill>
        <p:spPr>
          <a:xfrm>
            <a:off x="4206267" y="3574027"/>
            <a:ext cx="817112" cy="105057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34"/>
          <p:cNvSpPr txBox="1"/>
          <p:nvPr/>
        </p:nvSpPr>
        <p:spPr>
          <a:xfrm>
            <a:off x="576072" y="1234440"/>
            <a:ext cx="10607040" cy="4832052"/>
          </a:xfrm>
          <a:prstGeom prst="rect">
            <a:avLst/>
          </a:prstGeom>
          <a:noFill/>
          <a:ln>
            <a:noFill/>
          </a:ln>
        </p:spPr>
        <p:txBody>
          <a:bodyPr spcFirstLastPara="1" wrap="square" lIns="91425" tIns="45700" rIns="91425" bIns="45700" anchor="t" anchorCtr="0">
            <a:spAutoFit/>
          </a:bodyPr>
          <a:lstStyle/>
          <a:p>
            <a:pPr lvl="0"/>
            <a:r>
              <a:rPr lang="en-US" sz="1400" b="1" i="0" u="none" strike="noStrike" cap="none" dirty="0">
                <a:solidFill>
                  <a:srgbClr val="000000"/>
                </a:solidFill>
                <a:latin typeface="Arial"/>
                <a:ea typeface="Arial"/>
                <a:cs typeface="Arial"/>
                <a:sym typeface="Arial"/>
              </a:rPr>
              <a:t>Problem Statement : </a:t>
            </a:r>
            <a:r>
              <a:rPr lang="en-US" b="1" dirty="0"/>
              <a:t>Course Content Simplification Agent</a:t>
            </a:r>
          </a:p>
          <a:p>
            <a:pPr lvl="0"/>
            <a:endParaRPr sz="1400" b="1"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The Challenge</a:t>
            </a:r>
            <a:r>
              <a:rPr lang="en-US" sz="1400" b="0" i="0" u="none" strike="noStrike" cap="none" dirty="0">
                <a:solidFill>
                  <a:srgbClr val="000000"/>
                </a:solidFill>
                <a:latin typeface="Arial"/>
                <a:ea typeface="Arial"/>
                <a:cs typeface="Arial"/>
                <a:sym typeface="Arial"/>
              </a:rPr>
              <a:t> </a:t>
            </a:r>
            <a:endParaRPr dirty="0"/>
          </a:p>
          <a:p>
            <a:pPr lvl="0"/>
            <a:r>
              <a:rPr lang="en-US" dirty="0"/>
              <a:t>Educational materials often vary in complexity and are not always accessible to learners with different levels of prior knowledge. Students may struggle to grasp key concepts due to jargon- heavy or overly advanced explanations in faculty notes and textbooks. The challenge is to develop an AI- powered agent that can intelligently analyze academic content and reframe explanations based on the learner's current proficiency—ranging from beginner to expert. This would support more inclusive</a:t>
            </a:r>
          </a:p>
          <a:p>
            <a:pPr lvl="0"/>
            <a:r>
              <a:rPr lang="en-US" dirty="0"/>
              <a:t>learning and personalized education delivery at scale.</a:t>
            </a:r>
          </a:p>
          <a:p>
            <a:pPr lvl="0"/>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The Objective</a:t>
            </a:r>
            <a:r>
              <a:rPr lang="en-US" sz="1400" b="0" i="0" u="none" strike="noStrike" cap="none" dirty="0">
                <a:solidFill>
                  <a:srgbClr val="000000"/>
                </a:solidFill>
                <a:latin typeface="Arial"/>
                <a:ea typeface="Arial"/>
                <a:cs typeface="Arial"/>
                <a:sym typeface="Arial"/>
              </a:rPr>
              <a:t> </a:t>
            </a:r>
            <a:endParaRPr dirty="0"/>
          </a:p>
          <a:p>
            <a:r>
              <a:rPr lang="en-IN" dirty="0"/>
              <a:t>Build an AI-powered Course Content Simplification Agent that delivers reframed explanations tailored to learner proficiency for students at every level — beginner, intermediate, and expert. The solution should:</a:t>
            </a:r>
          </a:p>
          <a:p>
            <a:endParaRPr lang="en-IN" dirty="0"/>
          </a:p>
          <a:p>
            <a:pPr marL="285750" lvl="5" indent="-285750">
              <a:buFont typeface="Arial" panose="020B0604020202020204" pitchFamily="34" charset="0"/>
              <a:buChar char="•"/>
            </a:pPr>
            <a:r>
              <a:rPr lang="en-IN" b="1" dirty="0"/>
              <a:t>Proficiency-Based Reframing</a:t>
            </a:r>
            <a:r>
              <a:rPr lang="en-IN" dirty="0"/>
              <a:t> – Adjust explanation depth and language based on the learner's chosen level.</a:t>
            </a:r>
          </a:p>
          <a:p>
            <a:pPr marL="285750" lvl="5" indent="-285750">
              <a:buFont typeface="Arial" panose="020B0604020202020204" pitchFamily="34" charset="0"/>
              <a:buChar char="•"/>
            </a:pPr>
            <a:r>
              <a:rPr lang="en-IN" b="1" dirty="0"/>
              <a:t>Jargon Detection &amp; Definitions</a:t>
            </a:r>
            <a:r>
              <a:rPr lang="en-IN" dirty="0"/>
              <a:t> – Identify and briefly define technical terms within the content.</a:t>
            </a:r>
          </a:p>
          <a:p>
            <a:pPr marL="285750" lvl="5" indent="-285750">
              <a:buFont typeface="Arial" panose="020B0604020202020204" pitchFamily="34" charset="0"/>
              <a:buChar char="•"/>
            </a:pPr>
            <a:r>
              <a:rPr lang="en-IN" b="1" dirty="0"/>
              <a:t>Multi-Format Input</a:t>
            </a:r>
            <a:r>
              <a:rPr lang="en-IN" dirty="0"/>
              <a:t> – Accept pasted text or uploaded PDF/TXT files for simplification.</a:t>
            </a:r>
          </a:p>
          <a:p>
            <a:pPr marL="285750" lvl="5" indent="-285750">
              <a:buFont typeface="Arial" panose="020B0604020202020204" pitchFamily="34" charset="0"/>
              <a:buChar char="•"/>
            </a:pPr>
            <a:r>
              <a:rPr lang="en-IN" b="1" dirty="0"/>
              <a:t>Accuracy Safeguards</a:t>
            </a:r>
            <a:r>
              <a:rPr lang="en-IN" dirty="0"/>
              <a:t> – Flag ambiguous content and avoid fabricating facts not present in the source.</a:t>
            </a:r>
          </a:p>
          <a:p>
            <a:pPr marL="285750" lvl="5" indent="-285750">
              <a:buFont typeface="Arial" panose="020B0604020202020204" pitchFamily="34" charset="0"/>
              <a:buChar char="•"/>
            </a:pPr>
            <a:r>
              <a:rPr lang="en-IN" b="1" dirty="0"/>
              <a:t>Structured Output</a:t>
            </a:r>
            <a:r>
              <a:rPr lang="en-IN" dirty="0"/>
              <a:t> – Core Idea summary (one-line takeaway), Explanation section (reframed content), Key Takeaways (bulleted highlights), Real-World Example (practical anchor)</a:t>
            </a:r>
          </a:p>
          <a:p>
            <a:pPr marL="285750" lvl="5" indent="-285750">
              <a:buFont typeface="Arial" panose="020B0604020202020204" pitchFamily="34" charset="0"/>
              <a:buChar char="•"/>
            </a:pPr>
            <a:r>
              <a:rPr lang="en-IN" b="1" dirty="0"/>
              <a:t>Session Continuity</a:t>
            </a:r>
            <a:r>
              <a:rPr lang="en-IN" dirty="0"/>
              <a:t> – Remember recent content within a session to support follow-up questions.</a:t>
            </a: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
        <p:nvSpPr>
          <p:cNvPr id="96" name="Google Shape;96;p34"/>
          <p:cNvSpPr txBox="1"/>
          <p:nvPr/>
        </p:nvSpPr>
        <p:spPr>
          <a:xfrm>
            <a:off x="576072" y="704088"/>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Problem Statement -</a:t>
            </a:r>
            <a:endParaRPr sz="2400" b="1" i="0" u="none" strike="noStrike" cap="non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35"/>
          <p:cNvSpPr txBox="1"/>
          <p:nvPr/>
        </p:nvSpPr>
        <p:spPr>
          <a:xfrm>
            <a:off x="455468" y="1168656"/>
            <a:ext cx="11502852" cy="5693826"/>
          </a:xfrm>
          <a:prstGeom prst="rect">
            <a:avLst/>
          </a:prstGeom>
          <a:noFill/>
          <a:ln>
            <a:noFill/>
          </a:ln>
        </p:spPr>
        <p:txBody>
          <a:bodyPr spcFirstLastPara="1" wrap="square" lIns="91425" tIns="45700" rIns="91425" bIns="45700" anchor="t" anchorCtr="0">
            <a:spAutoFit/>
          </a:bodyPr>
          <a:lstStyle/>
          <a:p>
            <a:r>
              <a:rPr lang="en-IN" b="1" dirty="0"/>
              <a:t>Proposed Solution: </a:t>
            </a:r>
            <a:r>
              <a:rPr lang="en-IN" b="1" dirty="0" err="1"/>
              <a:t>ExplainIt</a:t>
            </a:r>
            <a:r>
              <a:rPr lang="en-IN" b="1" dirty="0"/>
              <a:t> — AI-Powered Course Content Simplification Agent</a:t>
            </a:r>
          </a:p>
          <a:p>
            <a:endParaRPr lang="en-IN" dirty="0"/>
          </a:p>
          <a:p>
            <a:r>
              <a:rPr lang="en-IN" dirty="0"/>
              <a:t>The proposed solution is a single-agent Flask web application built using Python Flask, IBM watsonx.ai, IBM Granite models, and IBM BOB to reframe academic content by learner proficiency level. The system addresses comprehension gaps caused by jargon-heavy textbooks and lecture notes through a simple, focused architecture.</a:t>
            </a:r>
          </a:p>
          <a:p>
            <a:r>
              <a:rPr lang="en-IN" dirty="0"/>
              <a:t>At its core, the solution uses a carefully engineered system prompt (AGENT_INSTRUCTIONS) sent to the IBM Granite model with every request, instructing it to adjust vocabulary, depth, and structure based on the learner's chosen level (Beginner / Intermediate / Expert).</a:t>
            </a:r>
          </a:p>
          <a:p>
            <a:endParaRPr lang="en-IN" dirty="0"/>
          </a:p>
          <a:p>
            <a:r>
              <a:rPr lang="en-IN" dirty="0"/>
              <a:t>The system performs four key functions:</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b="1" dirty="0"/>
              <a:t>Content Ingestion</a:t>
            </a:r>
            <a:r>
              <a:rPr lang="en-IN" dirty="0"/>
              <a:t> accepts pasted text or extracts text from uploaded PDF/TXT files (via </a:t>
            </a:r>
            <a:r>
              <a:rPr lang="en-IN" dirty="0" err="1"/>
              <a:t>PyMuPDF</a:t>
            </a:r>
            <a:r>
              <a:rPr lang="en-IN" dirty="0"/>
              <a:t>).</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b="1" dirty="0"/>
              <a:t>Proficiency-Based Reframing</a:t>
            </a:r>
            <a:r>
              <a:rPr lang="en-IN" dirty="0"/>
              <a:t> sends the content to Granite with level-specific instructions to produce a Core Idea, Explanation, Key Takeaways, and Real-World Example.</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b="1" dirty="0"/>
              <a:t>Conversational Handling</a:t>
            </a:r>
            <a:r>
              <a:rPr lang="en-IN" dirty="0"/>
              <a:t> detects casual greetings and responds normally instead of forcing the structured format.</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b="1" dirty="0"/>
              <a:t>Feedback &amp; Session Memory</a:t>
            </a:r>
            <a:r>
              <a:rPr lang="en-IN" dirty="0"/>
              <a:t> logs 👍/👎 ratings and remembers recent content within a session for follow-up questions.</a:t>
            </a:r>
          </a:p>
          <a:p>
            <a:pPr marL="285750" indent="-285750">
              <a:buFont typeface="Arial" panose="020B0604020202020204" pitchFamily="34" charset="0"/>
              <a:buChar char="•"/>
            </a:pPr>
            <a:r>
              <a:rPr lang="en-IN" dirty="0"/>
              <a:t>The solution includes a clean, responsive web interface with dark mode, drag-and-drop file upload, and a live chat-style output panel.</a:t>
            </a:r>
          </a:p>
          <a:p>
            <a:endParaRPr lang="en-IN" dirty="0"/>
          </a:p>
          <a:p>
            <a:r>
              <a:rPr lang="en-IN" dirty="0"/>
              <a:t>IBM BOB was used to scaffold the Flask backend and frontend, while watsonx.ai handles secure, scalable model access. Granite powers reasoning, reframing, and personalization.</a:t>
            </a:r>
          </a:p>
          <a:p>
            <a:r>
              <a:rPr lang="en-IN" dirty="0"/>
              <a:t>Overall, this solution delivers an end-to-end, deployment-ready learning assistant that makes dense academic content accessible to every learner, regardless of their starting point.</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
        <p:nvSpPr>
          <p:cNvPr id="102" name="Google Shape;102;p35"/>
          <p:cNvSpPr txBox="1"/>
          <p:nvPr/>
        </p:nvSpPr>
        <p:spPr>
          <a:xfrm>
            <a:off x="455468" y="706991"/>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Proposed Solution -</a:t>
            </a:r>
            <a:endParaRPr sz="2400" b="1" i="0" u="none" strike="noStrike" cap="none" dirty="0">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36"/>
          <p:cNvSpPr txBox="1"/>
          <p:nvPr/>
        </p:nvSpPr>
        <p:spPr>
          <a:xfrm>
            <a:off x="462280" y="657352"/>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Technology Used</a:t>
            </a:r>
            <a:endParaRPr sz="2400" b="1" i="0" u="none" strike="noStrike" cap="none" dirty="0">
              <a:solidFill>
                <a:srgbClr val="000000"/>
              </a:solidFill>
              <a:latin typeface="Arial"/>
              <a:ea typeface="Arial"/>
              <a:cs typeface="Arial"/>
              <a:sym typeface="Arial"/>
            </a:endParaRPr>
          </a:p>
        </p:txBody>
      </p:sp>
      <p:sp>
        <p:nvSpPr>
          <p:cNvPr id="108" name="Google Shape;108;p36"/>
          <p:cNvSpPr txBox="1"/>
          <p:nvPr/>
        </p:nvSpPr>
        <p:spPr>
          <a:xfrm>
            <a:off x="533400" y="1694688"/>
            <a:ext cx="10515600" cy="4678163"/>
          </a:xfrm>
          <a:prstGeom prst="rect">
            <a:avLst/>
          </a:prstGeom>
          <a:noFill/>
          <a:ln>
            <a:noFill/>
          </a:ln>
        </p:spPr>
        <p:txBody>
          <a:bodyPr spcFirstLastPara="1" wrap="square" lIns="91425" tIns="45700" rIns="91425" bIns="45700" anchor="t" anchorCtr="0">
            <a:spAutoFit/>
          </a:bodyPr>
          <a:lstStyle/>
          <a:p>
            <a:pPr marL="285750" lvl="0" indent="-285750">
              <a:buSzPts val="1800"/>
              <a:buFont typeface="Arial"/>
              <a:buChar char="•"/>
            </a:pPr>
            <a:r>
              <a:rPr lang="en-IN" sz="1800" b="1" dirty="0"/>
              <a:t>IBM BOB</a:t>
            </a:r>
            <a:r>
              <a:rPr lang="en-IN" sz="1800" dirty="0"/>
              <a:t> - Coding assistant used to scaffold the Flask backend, frontend, and API integration </a:t>
            </a:r>
          </a:p>
          <a:p>
            <a:pPr marL="285750" lvl="0" indent="-285750">
              <a:buSzPts val="1800"/>
              <a:buFont typeface="Arial"/>
              <a:buChar char="•"/>
            </a:pPr>
            <a:endParaRPr lang="en-IN" sz="1800" b="1" dirty="0"/>
          </a:p>
          <a:p>
            <a:pPr marL="285750" lvl="0" indent="-285750">
              <a:buSzPts val="1800"/>
              <a:buFont typeface="Arial"/>
              <a:buChar char="•"/>
            </a:pPr>
            <a:r>
              <a:rPr lang="en-IN" sz="1800" b="1" dirty="0"/>
              <a:t>IBM Granite model</a:t>
            </a:r>
            <a:r>
              <a:rPr lang="en-IN" sz="1800" dirty="0"/>
              <a:t> - For natural language understanding, content reframing, and proficiency-level reasoning </a:t>
            </a:r>
          </a:p>
          <a:p>
            <a:pPr marL="285750" lvl="0" indent="-285750">
              <a:buSzPts val="1800"/>
              <a:buFont typeface="Arial"/>
              <a:buChar char="•"/>
            </a:pPr>
            <a:endParaRPr lang="en-IN" sz="1800" b="1" dirty="0"/>
          </a:p>
          <a:p>
            <a:pPr marL="285750" lvl="0" indent="-285750">
              <a:buSzPts val="1800"/>
              <a:buFont typeface="Arial"/>
              <a:buChar char="•"/>
            </a:pPr>
            <a:r>
              <a:rPr lang="en-IN" sz="1800" b="1" dirty="0"/>
              <a:t>IBM Cloud</a:t>
            </a:r>
            <a:r>
              <a:rPr lang="en-IN" sz="1800" dirty="0"/>
              <a:t> – Hosts watsonx.ai Studio, the project workspace, and API credentials. IBM Cloud enables a reliable, secure, and scalable environment for deploying </a:t>
            </a:r>
            <a:r>
              <a:rPr lang="en-IN" sz="1800" dirty="0" err="1"/>
              <a:t>ExplainIt</a:t>
            </a:r>
            <a:r>
              <a:rPr lang="en-IN" sz="1800" dirty="0"/>
              <a:t>. </a:t>
            </a:r>
          </a:p>
          <a:p>
            <a:pPr marL="285750" lvl="0" indent="-285750">
              <a:buSzPts val="1800"/>
              <a:buFont typeface="Arial"/>
              <a:buChar char="•"/>
            </a:pPr>
            <a:endParaRPr lang="en-IN" sz="1800" b="1" dirty="0"/>
          </a:p>
          <a:p>
            <a:pPr marL="285750" lvl="0" indent="-285750">
              <a:buSzPts val="1800"/>
              <a:buFont typeface="Arial"/>
              <a:buChar char="•"/>
            </a:pPr>
            <a:r>
              <a:rPr lang="en-IN" sz="1800" b="1" dirty="0"/>
              <a:t>System Prompt Engineering</a:t>
            </a:r>
            <a:r>
              <a:rPr lang="en-IN" sz="1800" dirty="0"/>
              <a:t> – AGENT_INSTRUCTIONS define tone, output structure, and per-level rules, making </a:t>
            </a:r>
            <a:r>
              <a:rPr lang="en-IN" sz="1800" dirty="0" err="1"/>
              <a:t>ExplainIt's</a:t>
            </a:r>
            <a:r>
              <a:rPr lang="en-IN" sz="1800" dirty="0"/>
              <a:t> responses consistent and accurate. </a:t>
            </a:r>
          </a:p>
          <a:p>
            <a:pPr marL="285750" lvl="0" indent="-285750">
              <a:buSzPts val="1800"/>
              <a:buFont typeface="Arial"/>
              <a:buChar char="•"/>
            </a:pPr>
            <a:endParaRPr lang="en-IN" sz="1800" b="1" dirty="0"/>
          </a:p>
          <a:p>
            <a:pPr marL="285750" lvl="0" indent="-285750">
              <a:buSzPts val="1800"/>
              <a:buFont typeface="Arial"/>
              <a:buChar char="•"/>
            </a:pPr>
            <a:r>
              <a:rPr lang="en-IN" sz="1800" b="1" dirty="0"/>
              <a:t>IBM Watsonx.ai</a:t>
            </a:r>
            <a:r>
              <a:rPr lang="en-IN" sz="1800" dirty="0"/>
              <a:t> - For secure Granite model access via API, project management, and inferencing </a:t>
            </a:r>
          </a:p>
          <a:p>
            <a:pPr marL="285750" lvl="0" indent="-285750">
              <a:buSzPts val="1800"/>
              <a:buFont typeface="Arial"/>
              <a:buChar char="•"/>
            </a:pPr>
            <a:endParaRPr lang="en-IN" sz="1800" b="1" dirty="0"/>
          </a:p>
          <a:p>
            <a:pPr marL="285750" lvl="0" indent="-285750">
              <a:buSzPts val="1800"/>
              <a:buFont typeface="Arial"/>
              <a:buChar char="•"/>
            </a:pPr>
            <a:r>
              <a:rPr lang="en-IN" sz="1800" b="1" dirty="0"/>
              <a:t>Render (Deployment)</a:t>
            </a:r>
            <a:r>
              <a:rPr lang="en-IN" sz="1800" dirty="0"/>
              <a:t> – Free-tier cloud hosting for the live, publicly accessible app</a:t>
            </a:r>
            <a:endParaRPr sz="1800" b="0" i="0" u="none" strike="noStrike" cap="none" dirty="0">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37"/>
          <p:cNvSpPr/>
          <p:nvPr/>
        </p:nvSpPr>
        <p:spPr>
          <a:xfrm>
            <a:off x="478314" y="699735"/>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IN" sz="2400" b="1" dirty="0"/>
              <a:t>Key Components Used-</a:t>
            </a:r>
            <a:endParaRPr lang="en-IN" sz="2400" dirty="0"/>
          </a:p>
          <a:p>
            <a:pPr marL="0" marR="0" lvl="0" indent="0" algn="l" rtl="0">
              <a:lnSpc>
                <a:spcPct val="100000"/>
              </a:lnSpc>
              <a:spcBef>
                <a:spcPts val="0"/>
              </a:spcBef>
              <a:spcAft>
                <a:spcPts val="0"/>
              </a:spcAft>
              <a:buClr>
                <a:srgbClr val="051D3A"/>
              </a:buClr>
              <a:buSzPts val="3500"/>
              <a:buFont typeface="Times New Roman"/>
              <a:buNone/>
            </a:pPr>
            <a:endParaRPr sz="2400" b="1" i="0" u="none" strike="noStrike" cap="none" dirty="0">
              <a:solidFill>
                <a:srgbClr val="000000"/>
              </a:solidFill>
              <a:latin typeface="Arial"/>
              <a:ea typeface="Arial"/>
              <a:cs typeface="Arial"/>
              <a:sym typeface="Arial"/>
            </a:endParaRPr>
          </a:p>
        </p:txBody>
      </p:sp>
      <p:sp>
        <p:nvSpPr>
          <p:cNvPr id="114" name="Google Shape;114;p37"/>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5" name="Google Shape;115;p37"/>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6" name="Google Shape;116;p37"/>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7" name="Google Shape;117;p37"/>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8" name="Google Shape;118;p37"/>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9" name="Google Shape;119;p37"/>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20" name="Google Shape;120;p37"/>
          <p:cNvSpPr txBox="1"/>
          <p:nvPr/>
        </p:nvSpPr>
        <p:spPr>
          <a:xfrm>
            <a:off x="478314" y="1443861"/>
            <a:ext cx="10508138" cy="5693826"/>
          </a:xfrm>
          <a:prstGeom prst="rect">
            <a:avLst/>
          </a:prstGeom>
          <a:noFill/>
          <a:ln>
            <a:noFill/>
          </a:ln>
        </p:spPr>
        <p:txBody>
          <a:bodyPr spcFirstLastPara="1" wrap="square" lIns="91425" tIns="45700" rIns="91425" bIns="45700" anchor="t" anchorCtr="0">
            <a:spAutoFit/>
          </a:bodyPr>
          <a:lstStyle/>
          <a:p>
            <a:endParaRPr lang="en-IN" sz="1800" dirty="0"/>
          </a:p>
          <a:p>
            <a:r>
              <a:rPr lang="en-IN" sz="1800" b="1" dirty="0"/>
              <a:t>Content Input Panel</a:t>
            </a:r>
            <a:r>
              <a:rPr lang="en-IN" sz="1800" dirty="0"/>
              <a:t> – Text-paste box and drag-and-drop PDF/TXT upload where learners submit content and select a proficiency level.</a:t>
            </a:r>
          </a:p>
          <a:p>
            <a:endParaRPr lang="en-IN" sz="1800" dirty="0"/>
          </a:p>
          <a:p>
            <a:r>
              <a:rPr lang="en-IN" sz="1800" b="1" dirty="0"/>
              <a:t>Flask Backend + watsonx.ai API</a:t>
            </a:r>
            <a:r>
              <a:rPr lang="en-IN" sz="1800" dirty="0"/>
              <a:t> - Sends content and AGENT_INSTRUCTIONS to the Granite model and processes the response.</a:t>
            </a:r>
          </a:p>
          <a:p>
            <a:endParaRPr lang="en-IN" sz="1800" dirty="0"/>
          </a:p>
          <a:p>
            <a:r>
              <a:rPr lang="en-IN" sz="1800" b="1" dirty="0"/>
              <a:t>IBM Granite Model</a:t>
            </a:r>
            <a:r>
              <a:rPr lang="en-IN" sz="1800" dirty="0"/>
              <a:t> - </a:t>
            </a:r>
            <a:r>
              <a:rPr lang="en-IN" sz="1800" dirty="0" err="1"/>
              <a:t>ibm</a:t>
            </a:r>
            <a:r>
              <a:rPr lang="en-IN" sz="1800" dirty="0"/>
              <a:t>/granite-3-8b-instruct → Fast, efficient reasoning for real-time content reframing.</a:t>
            </a:r>
          </a:p>
          <a:p>
            <a:endParaRPr lang="en-IN" sz="1800" dirty="0"/>
          </a:p>
          <a:p>
            <a:r>
              <a:rPr lang="en-IN" sz="1800" b="1" dirty="0"/>
              <a:t>Structured Output Panel</a:t>
            </a:r>
            <a:r>
              <a:rPr lang="en-IN" sz="1800" dirty="0"/>
              <a:t> - Displays Core Idea, Explanation, Key Takeaways, and Real-World Example for each simplified response.</a:t>
            </a:r>
          </a:p>
          <a:p>
            <a:endParaRPr lang="en-IN" sz="1800" dirty="0"/>
          </a:p>
          <a:p>
            <a:r>
              <a:rPr lang="en-IN" sz="1800" b="1" dirty="0" err="1"/>
              <a:t>PyMuPDF</a:t>
            </a:r>
            <a:r>
              <a:rPr lang="en-IN" sz="1800" dirty="0"/>
              <a:t> - Extracts text from uploaded PDF files so they can be simplified directly.</a:t>
            </a:r>
          </a:p>
          <a:p>
            <a:pPr marL="342900" marR="0" lvl="0" indent="-25400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Arial"/>
                <a:ea typeface="Arial"/>
                <a:cs typeface="Arial"/>
                <a:sym typeface="Arial"/>
              </a:rPr>
              <a:t> </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38"/>
          <p:cNvSpPr/>
          <p:nvPr/>
        </p:nvSpPr>
        <p:spPr>
          <a:xfrm>
            <a:off x="618870" y="577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IN" sz="2400" b="1" dirty="0"/>
              <a:t>Application Workflow</a:t>
            </a:r>
            <a:r>
              <a:rPr lang="en-IN" sz="2400" dirty="0"/>
              <a:t>-</a:t>
            </a:r>
            <a:endParaRPr lang="en-US" sz="2400" b="1"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51D3A"/>
              </a:buClr>
              <a:buSzPts val="3500"/>
              <a:buFont typeface="Times New Roman"/>
              <a:buNone/>
            </a:pPr>
            <a:endParaRPr lang="en-US" sz="2400" b="1" dirty="0"/>
          </a:p>
          <a:p>
            <a:endParaRPr lang="en-IN" sz="1800" dirty="0"/>
          </a:p>
          <a:p>
            <a:pPr marL="0" marR="0" lvl="0" indent="0" algn="l" rtl="0">
              <a:lnSpc>
                <a:spcPct val="100000"/>
              </a:lnSpc>
              <a:spcBef>
                <a:spcPts val="0"/>
              </a:spcBef>
              <a:spcAft>
                <a:spcPts val="0"/>
              </a:spcAft>
              <a:buClr>
                <a:srgbClr val="051D3A"/>
              </a:buClr>
              <a:buSzPts val="3500"/>
              <a:buFont typeface="Times New Roman"/>
              <a:buNone/>
            </a:pPr>
            <a:endParaRPr sz="2400" b="1" i="0" u="none" strike="noStrike" cap="none" dirty="0">
              <a:solidFill>
                <a:srgbClr val="000000"/>
              </a:solidFill>
              <a:latin typeface="Arial"/>
              <a:ea typeface="Arial"/>
              <a:cs typeface="Arial"/>
              <a:sym typeface="Arial"/>
            </a:endParaRPr>
          </a:p>
        </p:txBody>
      </p:sp>
      <p:sp>
        <p:nvSpPr>
          <p:cNvPr id="4" name="TextBox 3">
            <a:extLst>
              <a:ext uri="{FF2B5EF4-FFF2-40B4-BE49-F238E27FC236}">
                <a16:creationId xmlns:a16="http://schemas.microsoft.com/office/drawing/2014/main" id="{AE3A764F-B599-6FAB-708C-0A10CD6E7ACB}"/>
              </a:ext>
            </a:extLst>
          </p:cNvPr>
          <p:cNvSpPr txBox="1"/>
          <p:nvPr/>
        </p:nvSpPr>
        <p:spPr>
          <a:xfrm>
            <a:off x="517270" y="1676400"/>
            <a:ext cx="10454640" cy="3970318"/>
          </a:xfrm>
          <a:prstGeom prst="rect">
            <a:avLst/>
          </a:prstGeom>
          <a:noFill/>
        </p:spPr>
        <p:txBody>
          <a:bodyPr wrap="square" rtlCol="0">
            <a:spAutoFit/>
          </a:bodyPr>
          <a:lstStyle/>
          <a:p>
            <a:pPr marL="342900" indent="-342900">
              <a:buFont typeface="+mj-lt"/>
              <a:buAutoNum type="arabicPeriod"/>
            </a:pPr>
            <a:r>
              <a:rPr lang="en-IN" sz="1800" b="1" dirty="0"/>
              <a:t>Input</a:t>
            </a:r>
            <a:r>
              <a:rPr lang="en-IN" sz="1800" dirty="0"/>
              <a:t> — Learner pastes text or uploads a PDF/TXT file, and selects a proficiency level (Beginner / Intermediate / Expert).</a:t>
            </a:r>
          </a:p>
          <a:p>
            <a:pPr marL="342900" indent="-342900">
              <a:buFont typeface="+mj-lt"/>
              <a:buAutoNum type="arabicPeriod"/>
            </a:pPr>
            <a:endParaRPr lang="en-IN" sz="1800" dirty="0"/>
          </a:p>
          <a:p>
            <a:pPr marL="342900" indent="-342900">
              <a:buFont typeface="+mj-lt"/>
              <a:buAutoNum type="arabicPeriod"/>
            </a:pPr>
            <a:r>
              <a:rPr lang="en-IN" sz="1800" b="1" dirty="0"/>
              <a:t>Extraction</a:t>
            </a:r>
            <a:r>
              <a:rPr lang="en-IN" sz="1800" dirty="0"/>
              <a:t> — Flask backend extracts text from uploaded files using </a:t>
            </a:r>
            <a:r>
              <a:rPr lang="en-IN" sz="1800" dirty="0" err="1"/>
              <a:t>PyMuPDF</a:t>
            </a:r>
            <a:r>
              <a:rPr lang="en-IN" sz="1800" dirty="0"/>
              <a:t> (for PDFs).</a:t>
            </a:r>
          </a:p>
          <a:p>
            <a:pPr marL="342900" indent="-342900">
              <a:buFont typeface="+mj-lt"/>
              <a:buAutoNum type="arabicPeriod"/>
            </a:pPr>
            <a:endParaRPr lang="en-IN" sz="1800" dirty="0"/>
          </a:p>
          <a:p>
            <a:pPr marL="342900" indent="-342900">
              <a:buFont typeface="+mj-lt"/>
              <a:buAutoNum type="arabicPeriod"/>
            </a:pPr>
            <a:r>
              <a:rPr lang="en-IN" sz="1800" b="1" dirty="0"/>
              <a:t>Reasoning</a:t>
            </a:r>
            <a:r>
              <a:rPr lang="en-IN" sz="1800" dirty="0"/>
              <a:t> — Content and AGENT_INSTRUCTIONS are sent to the IBM Granite model via the watsonx.ai API.</a:t>
            </a:r>
          </a:p>
          <a:p>
            <a:pPr marL="342900" indent="-342900">
              <a:buFont typeface="+mj-lt"/>
              <a:buAutoNum type="arabicPeriod"/>
            </a:pPr>
            <a:endParaRPr lang="en-IN" sz="1800" dirty="0"/>
          </a:p>
          <a:p>
            <a:pPr marL="342900" indent="-342900">
              <a:buFont typeface="+mj-lt"/>
              <a:buAutoNum type="arabicPeriod"/>
            </a:pPr>
            <a:r>
              <a:rPr lang="en-IN" sz="1800" b="1" dirty="0"/>
              <a:t>Structured Response</a:t>
            </a:r>
            <a:r>
              <a:rPr lang="en-IN" sz="1800" dirty="0"/>
              <a:t> — Granite returns a Core Idea, Explanation, Key Takeaways, and Real-World Example, reframed for the chosen level.</a:t>
            </a:r>
          </a:p>
          <a:p>
            <a:pPr marL="342900" indent="-342900">
              <a:buFont typeface="+mj-lt"/>
              <a:buAutoNum type="arabicPeriod"/>
            </a:pPr>
            <a:endParaRPr lang="en-IN" sz="1800" dirty="0"/>
          </a:p>
          <a:p>
            <a:pPr marL="342900" indent="-342900">
              <a:buFont typeface="+mj-lt"/>
              <a:buAutoNum type="arabicPeriod"/>
            </a:pPr>
            <a:r>
              <a:rPr lang="en-IN" sz="1800" b="1" dirty="0"/>
              <a:t>Feedback &amp; Follow-up</a:t>
            </a:r>
            <a:r>
              <a:rPr lang="en-IN" sz="1800" dirty="0"/>
              <a:t> — Learner rates the response (👍/👎) and can ask follow-up questions using session memory.</a:t>
            </a:r>
          </a:p>
          <a:p>
            <a:endParaRPr lang="en-IN"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7"/>
          <p:cNvSpPr/>
          <p:nvPr/>
        </p:nvSpPr>
        <p:spPr>
          <a:xfrm>
            <a:off x="562990" y="6788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400" b="1" i="0" u="none" strike="noStrike" cap="none" dirty="0">
                <a:solidFill>
                  <a:schemeClr val="dk1"/>
                </a:solidFill>
                <a:latin typeface="Calibri"/>
                <a:ea typeface="Calibri"/>
                <a:cs typeface="Calibri"/>
                <a:sym typeface="Calibri"/>
              </a:rPr>
              <a:t>Architecture blueprint</a:t>
            </a:r>
            <a:endParaRPr sz="2400" b="0" i="0" u="none" strike="noStrike" cap="none" dirty="0">
              <a:solidFill>
                <a:srgbClr val="000000"/>
              </a:solidFill>
              <a:latin typeface="Arial"/>
              <a:ea typeface="Arial"/>
              <a:cs typeface="Arial"/>
              <a:sym typeface="Arial"/>
            </a:endParaRPr>
          </a:p>
        </p:txBody>
      </p:sp>
      <p:sp>
        <p:nvSpPr>
          <p:cNvPr id="2" name="TextBox 1">
            <a:extLst>
              <a:ext uri="{FF2B5EF4-FFF2-40B4-BE49-F238E27FC236}">
                <a16:creationId xmlns:a16="http://schemas.microsoft.com/office/drawing/2014/main" id="{6ECEE358-A4BF-30CA-CF6A-BD3CACB392D7}"/>
              </a:ext>
            </a:extLst>
          </p:cNvPr>
          <p:cNvSpPr txBox="1"/>
          <p:nvPr/>
        </p:nvSpPr>
        <p:spPr>
          <a:xfrm>
            <a:off x="461390" y="1582340"/>
            <a:ext cx="10852483" cy="3693319"/>
          </a:xfrm>
          <a:prstGeom prst="rect">
            <a:avLst/>
          </a:prstGeom>
          <a:noFill/>
        </p:spPr>
        <p:txBody>
          <a:bodyPr wrap="square" rtlCol="0">
            <a:spAutoFit/>
          </a:bodyPr>
          <a:lstStyle/>
          <a:p>
            <a:pPr marL="285750" indent="-285750">
              <a:buFont typeface="Arial" panose="020B0604020202020204" pitchFamily="34" charset="0"/>
              <a:buChar char="•"/>
            </a:pPr>
            <a:r>
              <a:rPr lang="en-IN" sz="1800" b="1" dirty="0"/>
              <a:t>Frontend Layer</a:t>
            </a:r>
            <a:r>
              <a:rPr lang="en-IN" sz="1800" dirty="0"/>
              <a:t> — HTML/CSS/JS single-page interface (dark mode, chat UI, proficiency selector, file upload) </a:t>
            </a:r>
          </a:p>
          <a:p>
            <a:pPr marL="285750" indent="-285750">
              <a:buFont typeface="Arial" panose="020B0604020202020204" pitchFamily="34" charset="0"/>
              <a:buChar char="•"/>
            </a:pPr>
            <a:endParaRPr lang="en-IN" sz="1800" b="1" dirty="0"/>
          </a:p>
          <a:p>
            <a:pPr marL="285750" indent="-285750">
              <a:buFont typeface="Arial" panose="020B0604020202020204" pitchFamily="34" charset="0"/>
              <a:buChar char="•"/>
            </a:pPr>
            <a:r>
              <a:rPr lang="en-IN" sz="1800" b="1" dirty="0"/>
              <a:t>Application Layer</a:t>
            </a:r>
            <a:r>
              <a:rPr lang="en-IN" sz="1800" dirty="0"/>
              <a:t> — Python Flask server: routes (/</a:t>
            </a:r>
            <a:r>
              <a:rPr lang="en-IN" sz="1800" dirty="0" err="1"/>
              <a:t>api</a:t>
            </a:r>
            <a:r>
              <a:rPr lang="en-IN" sz="1800" dirty="0"/>
              <a:t>/simplify, /</a:t>
            </a:r>
            <a:r>
              <a:rPr lang="en-IN" sz="1800" dirty="0" err="1"/>
              <a:t>api</a:t>
            </a:r>
            <a:r>
              <a:rPr lang="en-IN" sz="1800" dirty="0"/>
              <a:t>/upload, /</a:t>
            </a:r>
            <a:r>
              <a:rPr lang="en-IN" sz="1800" dirty="0" err="1"/>
              <a:t>api</a:t>
            </a:r>
            <a:r>
              <a:rPr lang="en-IN" sz="1800" dirty="0"/>
              <a:t>/feedback, /</a:t>
            </a:r>
            <a:r>
              <a:rPr lang="en-IN" sz="1800" dirty="0" err="1"/>
              <a:t>api</a:t>
            </a:r>
            <a:r>
              <a:rPr lang="en-IN" sz="1800" dirty="0"/>
              <a:t>/clear, /</a:t>
            </a:r>
            <a:r>
              <a:rPr lang="en-IN" sz="1800" dirty="0" err="1"/>
              <a:t>api</a:t>
            </a:r>
            <a:r>
              <a:rPr lang="en-IN" sz="1800" dirty="0"/>
              <a:t>/health), AGENT_INSTRUCTIONS, session memory </a:t>
            </a:r>
          </a:p>
          <a:p>
            <a:pPr marL="285750" indent="-285750">
              <a:buFont typeface="Arial" panose="020B0604020202020204" pitchFamily="34" charset="0"/>
              <a:buChar char="•"/>
            </a:pPr>
            <a:endParaRPr lang="en-IN" sz="1800" b="1" dirty="0"/>
          </a:p>
          <a:p>
            <a:pPr marL="285750" indent="-285750">
              <a:buFont typeface="Arial" panose="020B0604020202020204" pitchFamily="34" charset="0"/>
              <a:buChar char="•"/>
            </a:pPr>
            <a:r>
              <a:rPr lang="en-IN" sz="1800" b="1" dirty="0"/>
              <a:t>Processing Layer</a:t>
            </a:r>
            <a:r>
              <a:rPr lang="en-IN" sz="1800" dirty="0"/>
              <a:t> — </a:t>
            </a:r>
            <a:r>
              <a:rPr lang="en-IN" sz="1800" dirty="0" err="1"/>
              <a:t>PyMuPDF</a:t>
            </a:r>
            <a:r>
              <a:rPr lang="en-IN" sz="1800" dirty="0"/>
              <a:t> for PDF text extraction; feedback logger (JSONL) </a:t>
            </a:r>
          </a:p>
          <a:p>
            <a:pPr marL="285750" indent="-285750">
              <a:buFont typeface="Arial" panose="020B0604020202020204" pitchFamily="34" charset="0"/>
              <a:buChar char="•"/>
            </a:pPr>
            <a:endParaRPr lang="en-IN" sz="1800" b="1" dirty="0"/>
          </a:p>
          <a:p>
            <a:pPr marL="285750" indent="-285750">
              <a:buFont typeface="Arial" panose="020B0604020202020204" pitchFamily="34" charset="0"/>
              <a:buChar char="•"/>
            </a:pPr>
            <a:r>
              <a:rPr lang="en-IN" sz="1800" b="1" dirty="0"/>
              <a:t>AI Layer</a:t>
            </a:r>
            <a:r>
              <a:rPr lang="en-IN" sz="1800" dirty="0"/>
              <a:t> — IBM watsonx.ai API → IBM Granite model (</a:t>
            </a:r>
            <a:r>
              <a:rPr lang="en-IN" sz="1800" dirty="0" err="1"/>
              <a:t>ibm</a:t>
            </a:r>
            <a:r>
              <a:rPr lang="en-IN" sz="1800" dirty="0"/>
              <a:t>/granite-3-8b-instruct), invoked with content, level, and AGENT_INSTRUCTIONS </a:t>
            </a:r>
          </a:p>
          <a:p>
            <a:pPr marL="285750" indent="-285750">
              <a:buFont typeface="Arial" panose="020B0604020202020204" pitchFamily="34" charset="0"/>
              <a:buChar char="•"/>
            </a:pPr>
            <a:endParaRPr lang="en-IN" sz="1800" b="1" dirty="0"/>
          </a:p>
          <a:p>
            <a:pPr marL="285750" indent="-285750">
              <a:buFont typeface="Arial" panose="020B0604020202020204" pitchFamily="34" charset="0"/>
              <a:buChar char="•"/>
            </a:pPr>
            <a:r>
              <a:rPr lang="en-IN" sz="1800" b="1" dirty="0"/>
              <a:t>Deployment Layer</a:t>
            </a:r>
            <a:r>
              <a:rPr lang="en-IN" sz="1800" dirty="0"/>
              <a:t> — GitHub (version control) → Render (free-tier live hosting), with credentials managed as encrypted environment variables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1562092-ADBE-E207-8315-35673C94347C}"/>
              </a:ext>
            </a:extLst>
          </p:cNvPr>
          <p:cNvPicPr>
            <a:picLocks noChangeAspect="1"/>
          </p:cNvPicPr>
          <p:nvPr/>
        </p:nvPicPr>
        <p:blipFill>
          <a:blip r:embed="rId2"/>
          <a:stretch>
            <a:fillRect/>
          </a:stretch>
        </p:blipFill>
        <p:spPr>
          <a:xfrm>
            <a:off x="352034" y="1752601"/>
            <a:ext cx="7997918" cy="4732866"/>
          </a:xfrm>
          <a:prstGeom prst="rect">
            <a:avLst/>
          </a:prstGeom>
        </p:spPr>
      </p:pic>
      <p:pic>
        <p:nvPicPr>
          <p:cNvPr id="7" name="Picture 6">
            <a:extLst>
              <a:ext uri="{FF2B5EF4-FFF2-40B4-BE49-F238E27FC236}">
                <a16:creationId xmlns:a16="http://schemas.microsoft.com/office/drawing/2014/main" id="{9D0FCA48-4722-F13B-782A-3490198A68C6}"/>
              </a:ext>
            </a:extLst>
          </p:cNvPr>
          <p:cNvPicPr>
            <a:picLocks noChangeAspect="1"/>
          </p:cNvPicPr>
          <p:nvPr/>
        </p:nvPicPr>
        <p:blipFill>
          <a:blip r:embed="rId3"/>
          <a:stretch>
            <a:fillRect/>
          </a:stretch>
        </p:blipFill>
        <p:spPr>
          <a:xfrm>
            <a:off x="8394469" y="211667"/>
            <a:ext cx="3445497" cy="6273800"/>
          </a:xfrm>
          <a:prstGeom prst="rect">
            <a:avLst/>
          </a:prstGeom>
        </p:spPr>
      </p:pic>
      <p:sp>
        <p:nvSpPr>
          <p:cNvPr id="8" name="TextBox 7">
            <a:extLst>
              <a:ext uri="{FF2B5EF4-FFF2-40B4-BE49-F238E27FC236}">
                <a16:creationId xmlns:a16="http://schemas.microsoft.com/office/drawing/2014/main" id="{5537E202-D7C1-B4A8-8D5B-0655588A8A01}"/>
              </a:ext>
            </a:extLst>
          </p:cNvPr>
          <p:cNvSpPr txBox="1"/>
          <p:nvPr/>
        </p:nvSpPr>
        <p:spPr>
          <a:xfrm>
            <a:off x="558800" y="736599"/>
            <a:ext cx="3209533" cy="461665"/>
          </a:xfrm>
          <a:prstGeom prst="rect">
            <a:avLst/>
          </a:prstGeom>
          <a:noFill/>
        </p:spPr>
        <p:txBody>
          <a:bodyPr wrap="none" rtlCol="0">
            <a:spAutoFit/>
          </a:bodyPr>
          <a:lstStyle/>
          <a:p>
            <a:r>
              <a:rPr lang="en-IN" sz="2400" b="1" dirty="0"/>
              <a:t>IBM BOB PROMPTS </a:t>
            </a:r>
          </a:p>
        </p:txBody>
      </p:sp>
    </p:spTree>
    <p:extLst>
      <p:ext uri="{BB962C8B-B14F-4D97-AF65-F5344CB8AC3E}">
        <p14:creationId xmlns:p14="http://schemas.microsoft.com/office/powerpoint/2010/main" val="5873204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82BB0F-AD11-DDA5-72F3-58BFF438D87F}"/>
              </a:ext>
            </a:extLst>
          </p:cNvPr>
          <p:cNvPicPr>
            <a:picLocks noChangeAspect="1"/>
          </p:cNvPicPr>
          <p:nvPr/>
        </p:nvPicPr>
        <p:blipFill>
          <a:blip r:embed="rId2"/>
          <a:stretch>
            <a:fillRect/>
          </a:stretch>
        </p:blipFill>
        <p:spPr>
          <a:xfrm>
            <a:off x="609599" y="707940"/>
            <a:ext cx="10769599" cy="5841043"/>
          </a:xfrm>
          <a:prstGeom prst="rect">
            <a:avLst/>
          </a:prstGeom>
        </p:spPr>
      </p:pic>
      <p:sp>
        <p:nvSpPr>
          <p:cNvPr id="6" name="TextBox 5">
            <a:extLst>
              <a:ext uri="{FF2B5EF4-FFF2-40B4-BE49-F238E27FC236}">
                <a16:creationId xmlns:a16="http://schemas.microsoft.com/office/drawing/2014/main" id="{AEC2C755-64BC-2D13-B72D-67A07A3A93FC}"/>
              </a:ext>
            </a:extLst>
          </p:cNvPr>
          <p:cNvSpPr txBox="1"/>
          <p:nvPr/>
        </p:nvSpPr>
        <p:spPr>
          <a:xfrm>
            <a:off x="609599" y="148150"/>
            <a:ext cx="3844322" cy="461665"/>
          </a:xfrm>
          <a:prstGeom prst="rect">
            <a:avLst/>
          </a:prstGeom>
          <a:noFill/>
        </p:spPr>
        <p:txBody>
          <a:bodyPr wrap="none" rtlCol="0">
            <a:spAutoFit/>
          </a:bodyPr>
          <a:lstStyle/>
          <a:p>
            <a:r>
              <a:rPr lang="en-IN" sz="2400" b="1" dirty="0"/>
              <a:t>PROJECT SCREENSHOT</a:t>
            </a:r>
          </a:p>
        </p:txBody>
      </p:sp>
    </p:spTree>
    <p:extLst>
      <p:ext uri="{BB962C8B-B14F-4D97-AF65-F5344CB8AC3E}">
        <p14:creationId xmlns:p14="http://schemas.microsoft.com/office/powerpoint/2010/main" val="25454874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4EB20FD-F712-46CC-EF45-F54B66DE1953}"/>
              </a:ext>
            </a:extLst>
          </p:cNvPr>
          <p:cNvPicPr>
            <a:picLocks noChangeAspect="1"/>
          </p:cNvPicPr>
          <p:nvPr/>
        </p:nvPicPr>
        <p:blipFill>
          <a:blip r:embed="rId2"/>
          <a:stretch>
            <a:fillRect/>
          </a:stretch>
        </p:blipFill>
        <p:spPr>
          <a:xfrm>
            <a:off x="426484" y="287866"/>
            <a:ext cx="11339032" cy="6152409"/>
          </a:xfrm>
          <a:prstGeom prst="rect">
            <a:avLst/>
          </a:prstGeom>
        </p:spPr>
      </p:pic>
    </p:spTree>
    <p:extLst>
      <p:ext uri="{BB962C8B-B14F-4D97-AF65-F5344CB8AC3E}">
        <p14:creationId xmlns:p14="http://schemas.microsoft.com/office/powerpoint/2010/main" val="39012749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D557B4-0F4A-7BDE-F4AA-01D22115E87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573E413-F269-9921-9214-9D72C1A09E2C}"/>
              </a:ext>
            </a:extLst>
          </p:cNvPr>
          <p:cNvPicPr>
            <a:picLocks noChangeAspect="1"/>
          </p:cNvPicPr>
          <p:nvPr/>
        </p:nvPicPr>
        <p:blipFill>
          <a:blip r:embed="rId2"/>
          <a:stretch>
            <a:fillRect/>
          </a:stretch>
        </p:blipFill>
        <p:spPr>
          <a:xfrm>
            <a:off x="346241" y="307510"/>
            <a:ext cx="11634091" cy="6242980"/>
          </a:xfrm>
          <a:prstGeom prst="rect">
            <a:avLst/>
          </a:prstGeom>
        </p:spPr>
      </p:pic>
    </p:spTree>
    <p:extLst>
      <p:ext uri="{BB962C8B-B14F-4D97-AF65-F5344CB8AC3E}">
        <p14:creationId xmlns:p14="http://schemas.microsoft.com/office/powerpoint/2010/main" val="29831002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pic>
        <p:nvPicPr>
          <p:cNvPr id="137" name="Google Shape;137;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138" name="Google Shape;138;p9"/>
          <p:cNvSpPr txBox="1"/>
          <p:nvPr/>
        </p:nvSpPr>
        <p:spPr>
          <a:xfrm>
            <a:off x="475488" y="283464"/>
            <a:ext cx="9317736"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Role of Agentic AI in the solution </a:t>
            </a:r>
            <a:endParaRPr sz="3200" b="1" i="0" u="none" strike="noStrike" cap="none">
              <a:solidFill>
                <a:srgbClr val="000000"/>
              </a:solidFill>
              <a:latin typeface="Arial"/>
              <a:ea typeface="Arial"/>
              <a:cs typeface="Arial"/>
              <a:sym typeface="Arial"/>
            </a:endParaRPr>
          </a:p>
        </p:txBody>
      </p:sp>
      <p:sp>
        <p:nvSpPr>
          <p:cNvPr id="139" name="Google Shape;139;p9"/>
          <p:cNvSpPr txBox="1"/>
          <p:nvPr/>
        </p:nvSpPr>
        <p:spPr>
          <a:xfrm>
            <a:off x="621792" y="1167493"/>
            <a:ext cx="7406640" cy="4616608"/>
          </a:xfrm>
          <a:prstGeom prst="rect">
            <a:avLst/>
          </a:prstGeom>
          <a:noFill/>
          <a:ln>
            <a:noFill/>
          </a:ln>
        </p:spPr>
        <p:txBody>
          <a:bodyPr spcFirstLastPara="1" wrap="square" lIns="91425" tIns="45700" rIns="91425" bIns="45700" anchor="t" anchorCtr="0">
            <a:spAutoFit/>
          </a:bodyPr>
          <a:lstStyle/>
          <a:p>
            <a:r>
              <a:rPr lang="en-IN" b="1" dirty="0"/>
              <a:t>Role of Agentic AI in </a:t>
            </a:r>
            <a:r>
              <a:rPr lang="en-IN" b="1" dirty="0" err="1"/>
              <a:t>ExplainIt</a:t>
            </a:r>
            <a:endParaRPr lang="en-IN" b="1" dirty="0"/>
          </a:p>
          <a:p>
            <a:br>
              <a:rPr lang="en-IN" dirty="0"/>
            </a:br>
            <a:r>
              <a:rPr lang="en-IN" dirty="0"/>
              <a:t>Agentic AI enables </a:t>
            </a:r>
            <a:r>
              <a:rPr lang="en-IN" dirty="0" err="1"/>
              <a:t>ExplainIt</a:t>
            </a:r>
            <a:r>
              <a:rPr lang="en-IN" dirty="0"/>
              <a:t> to function as an intelligent reasoning system rather than a static text formatter. Using IBM watsonx.ai and IBM Granite models, it interprets the learner's proficiency level and autonomously decides how to restructure, simplify, and enrich the content.</a:t>
            </a:r>
          </a:p>
          <a:p>
            <a:endParaRPr lang="en-IN" dirty="0"/>
          </a:p>
          <a:p>
            <a:r>
              <a:rPr lang="en-IN" dirty="0"/>
              <a:t>The agent independently identifies jargon, decides what level of detail to include, and chooses when to invoke the structured Core Idea/Explanation/Key Takeaways format versus a plain conversational reply. This autonomous decision-making ensures relevant, level-appropriate output without manual configuration per request.</a:t>
            </a:r>
          </a:p>
          <a:p>
            <a:endParaRPr lang="en-IN" dirty="0"/>
          </a:p>
          <a:p>
            <a:r>
              <a:rPr lang="en-IN" dirty="0"/>
              <a:t>Agentic AI also brings context awareness, tracking recent content within a session to answer follow-up questions coherently. It supports real-time adaptation, adjusting explanation depth instantly when a learner switches proficiency levels.</a:t>
            </a:r>
          </a:p>
          <a:p>
            <a:endParaRPr lang="en-IN" dirty="0"/>
          </a:p>
          <a:p>
            <a:r>
              <a:rPr lang="en-IN" dirty="0"/>
              <a:t>Additionally, the agent applies built-in accuracy safeguards — flagging ambiguous content and avoiding fabricated facts — without explicit instruction each time.</a:t>
            </a:r>
          </a:p>
          <a:p>
            <a:endParaRPr lang="en-IN" dirty="0"/>
          </a:p>
          <a:p>
            <a:r>
              <a:rPr lang="en-IN" dirty="0"/>
              <a:t>Overall, Agentic AI makes the system proactive, adaptive, and learner-</a:t>
            </a:r>
            <a:r>
              <a:rPr lang="en-IN" dirty="0" err="1"/>
              <a:t>centered</a:t>
            </a:r>
            <a:r>
              <a:rPr lang="en-IN" dirty="0"/>
              <a:t>, acting like a personal tutor that meets every student at their own level of understanding.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40"/>
          <p:cNvSpPr txBox="1"/>
          <p:nvPr/>
        </p:nvSpPr>
        <p:spPr>
          <a:xfrm>
            <a:off x="777240" y="484632"/>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Novelty and Uniqueness</a:t>
            </a:r>
            <a:endParaRPr sz="2400" b="1" i="0" u="none" strike="noStrike" cap="none">
              <a:solidFill>
                <a:srgbClr val="000000"/>
              </a:solidFill>
              <a:latin typeface="Arial"/>
              <a:ea typeface="Arial"/>
              <a:cs typeface="Arial"/>
              <a:sym typeface="Arial"/>
            </a:endParaRPr>
          </a:p>
        </p:txBody>
      </p:sp>
      <p:sp>
        <p:nvSpPr>
          <p:cNvPr id="158" name="Google Shape;158;p40"/>
          <p:cNvSpPr txBox="1"/>
          <p:nvPr/>
        </p:nvSpPr>
        <p:spPr>
          <a:xfrm>
            <a:off x="777240" y="1207008"/>
            <a:ext cx="11301984" cy="5078273"/>
          </a:xfrm>
          <a:prstGeom prst="rect">
            <a:avLst/>
          </a:prstGeom>
          <a:noFill/>
          <a:ln>
            <a:noFill/>
          </a:ln>
        </p:spPr>
        <p:txBody>
          <a:bodyPr spcFirstLastPara="1" wrap="square" lIns="91425" tIns="45700" rIns="91425" bIns="45700" anchor="t" anchorCtr="0">
            <a:spAutoFit/>
          </a:bodyPr>
          <a:lstStyle/>
          <a:p>
            <a:r>
              <a:rPr lang="en-IN" sz="1800" dirty="0" err="1"/>
              <a:t>ExplainIt</a:t>
            </a:r>
            <a:r>
              <a:rPr lang="en-IN" sz="1800" dirty="0"/>
              <a:t> stands out by combining Agentic AI, prompt engineering, and proficiency-based personalization into a single, lightweight, deployable system.</a:t>
            </a:r>
          </a:p>
          <a:p>
            <a:endParaRPr lang="en-IN" sz="1800" dirty="0"/>
          </a:p>
          <a:p>
            <a:r>
              <a:rPr lang="en-IN" sz="1800" b="1" dirty="0"/>
              <a:t>Proficiency-Aware Reasoning</a:t>
            </a:r>
            <a:r>
              <a:rPr lang="en-IN" sz="1800" dirty="0"/>
              <a:t> – The same content is reframed three distinct ways (Beginner/Intermediate/Expert) without separate models or pipelines.</a:t>
            </a:r>
          </a:p>
          <a:p>
            <a:r>
              <a:rPr lang="en-IN" sz="1800" b="1" dirty="0"/>
              <a:t>Built-In Accuracy Safeguards</a:t>
            </a:r>
            <a:r>
              <a:rPr lang="en-IN" sz="1800" dirty="0"/>
              <a:t> – Explicitly instructed to avoid fabricating facts and to flag ambiguous source content.</a:t>
            </a:r>
          </a:p>
          <a:p>
            <a:r>
              <a:rPr lang="en-IN" sz="1800" b="1" dirty="0"/>
              <a:t>Structured, Consistent Output</a:t>
            </a:r>
            <a:r>
              <a:rPr lang="en-IN" sz="1800" dirty="0"/>
              <a:t> – Every response follows a Core Idea → Explanation → Key Takeaways → Real-World Example format for scannable clarity.</a:t>
            </a:r>
          </a:p>
          <a:p>
            <a:r>
              <a:rPr lang="en-IN" sz="1800" b="1" dirty="0"/>
              <a:t>Conversational Intelligence</a:t>
            </a:r>
            <a:r>
              <a:rPr lang="en-IN" sz="1800" dirty="0"/>
              <a:t> – Detects casual greetings vs. real content requests, avoiding an over-engineered response to "hi".</a:t>
            </a:r>
          </a:p>
          <a:p>
            <a:r>
              <a:rPr lang="en-IN" sz="1800" b="1" dirty="0"/>
              <a:t>Multi-Format Input</a:t>
            </a:r>
            <a:r>
              <a:rPr lang="en-IN" sz="1800" dirty="0"/>
              <a:t> – Accepts pasted text or uploaded PDF/TXT files, extracted automatically via </a:t>
            </a:r>
            <a:r>
              <a:rPr lang="en-IN" sz="1800" dirty="0" err="1"/>
              <a:t>PyMuPDF</a:t>
            </a:r>
            <a:r>
              <a:rPr lang="en-IN" sz="1800" dirty="0"/>
              <a:t>.</a:t>
            </a:r>
          </a:p>
          <a:p>
            <a:r>
              <a:rPr lang="en-IN" sz="1800" b="1" dirty="0"/>
              <a:t>Feedback-Driven Improvement</a:t>
            </a:r>
            <a:r>
              <a:rPr lang="en-IN" sz="1800" dirty="0"/>
              <a:t> – Logs 👍/👎 ratings per response, creating a foundation for future prompt tuning.</a:t>
            </a:r>
          </a:p>
          <a:p>
            <a:r>
              <a:rPr lang="en-IN" sz="1800" b="1" dirty="0"/>
              <a:t>Deployment-Ready</a:t>
            </a:r>
            <a:r>
              <a:rPr lang="en-IN" sz="1800" dirty="0"/>
              <a:t> – Built on IBM watsonx.ai with IBM Granite models, live and publicly accessible on Render.</a:t>
            </a:r>
          </a:p>
          <a:p>
            <a:endParaRPr lang="en-IN" sz="1800" dirty="0"/>
          </a:p>
          <a:p>
            <a:r>
              <a:rPr lang="en-IN" sz="1800" dirty="0"/>
              <a:t>This makes the solution a genuinely useful study companion, not just a static text formatter.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41"/>
          <p:cNvSpPr/>
          <p:nvPr/>
        </p:nvSpPr>
        <p:spPr>
          <a:xfrm>
            <a:off x="1142524" y="731827"/>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dirty="0">
                <a:solidFill>
                  <a:srgbClr val="000000"/>
                </a:solidFill>
                <a:latin typeface="Arial"/>
                <a:ea typeface="Arial"/>
                <a:cs typeface="Arial"/>
                <a:sym typeface="Arial"/>
              </a:rPr>
              <a:t>Git Hub Link</a:t>
            </a:r>
            <a:endParaRPr sz="2400" b="1" i="0" u="none" strike="noStrike" cap="none" dirty="0">
              <a:solidFill>
                <a:srgbClr val="000000"/>
              </a:solidFill>
              <a:latin typeface="Arial"/>
              <a:ea typeface="Arial"/>
              <a:cs typeface="Arial"/>
              <a:sym typeface="Arial"/>
            </a:endParaRPr>
          </a:p>
        </p:txBody>
      </p:sp>
      <p:sp>
        <p:nvSpPr>
          <p:cNvPr id="164" name="Google Shape;164;p41"/>
          <p:cNvSpPr/>
          <p:nvPr/>
        </p:nvSpPr>
        <p:spPr>
          <a:xfrm>
            <a:off x="1218724" y="1570445"/>
            <a:ext cx="9214580" cy="852888"/>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hlinkClick r:id="rId3"/>
              </a:rPr>
              <a:t>https://github.com/drishtiguptaa/explainit-course-simplifier.git</a:t>
            </a:r>
            <a:endParaRPr lang="en-US" sz="185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165" name="Google Shape;165;p41"/>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6" name="Google Shape;166;p41"/>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7" name="Google Shape;167;p41"/>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3" name="TextBox 2">
            <a:extLst>
              <a:ext uri="{FF2B5EF4-FFF2-40B4-BE49-F238E27FC236}">
                <a16:creationId xmlns:a16="http://schemas.microsoft.com/office/drawing/2014/main" id="{16A80FFA-7644-1B66-7894-A75A5761FFE1}"/>
              </a:ext>
            </a:extLst>
          </p:cNvPr>
          <p:cNvSpPr txBox="1"/>
          <p:nvPr/>
        </p:nvSpPr>
        <p:spPr>
          <a:xfrm>
            <a:off x="1218724" y="2762937"/>
            <a:ext cx="6096000" cy="597279"/>
          </a:xfrm>
          <a:prstGeom prst="rect">
            <a:avLst/>
          </a:prstGeom>
          <a:noFill/>
        </p:spPr>
        <p:txBody>
          <a:bodyPr wrap="square">
            <a:sp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t>Live</a:t>
            </a:r>
            <a:r>
              <a:rPr lang="en-US" sz="2400" b="1" i="0" u="none" strike="noStrike" cap="none" dirty="0">
                <a:solidFill>
                  <a:srgbClr val="000000"/>
                </a:solidFill>
                <a:latin typeface="Arial"/>
                <a:ea typeface="Arial"/>
                <a:cs typeface="Arial"/>
                <a:sym typeface="Arial"/>
              </a:rPr>
              <a:t> Demo</a:t>
            </a:r>
          </a:p>
        </p:txBody>
      </p:sp>
      <p:sp>
        <p:nvSpPr>
          <p:cNvPr id="5" name="TextBox 4">
            <a:extLst>
              <a:ext uri="{FF2B5EF4-FFF2-40B4-BE49-F238E27FC236}">
                <a16:creationId xmlns:a16="http://schemas.microsoft.com/office/drawing/2014/main" id="{112A8CA8-A5A5-C913-E63E-DAAC8A0F35A1}"/>
              </a:ext>
            </a:extLst>
          </p:cNvPr>
          <p:cNvSpPr txBox="1"/>
          <p:nvPr/>
        </p:nvSpPr>
        <p:spPr>
          <a:xfrm>
            <a:off x="1218723" y="3773134"/>
            <a:ext cx="9754553" cy="861774"/>
          </a:xfrm>
          <a:prstGeom prst="rect">
            <a:avLst/>
          </a:prstGeom>
          <a:noFill/>
        </p:spPr>
        <p:txBody>
          <a:bodyPr wrap="square">
            <a:spAutoFit/>
          </a:bodyPr>
          <a:lstStyle/>
          <a:p>
            <a:r>
              <a:rPr lang="en-IN" sz="1800" dirty="0" err="1">
                <a:hlinkClick r:id="rId4"/>
              </a:rPr>
              <a:t>ExplainIt</a:t>
            </a:r>
            <a:r>
              <a:rPr lang="en-IN" sz="1800" dirty="0">
                <a:hlinkClick r:id="rId4"/>
              </a:rPr>
              <a:t> — AI Course Simplifier</a:t>
            </a:r>
            <a:endParaRPr lang="en-IN" sz="1800" dirty="0"/>
          </a:p>
          <a:p>
            <a:endParaRPr lang="en-IN" sz="1800" dirty="0"/>
          </a:p>
          <a:p>
            <a:r>
              <a:rPr lang="en-IN" dirty="0"/>
              <a:t>Note: hosted on Render's free tier — if inactive for a while, the first load may take ~50 seconds to spin up.</a:t>
            </a:r>
            <a:endParaRPr lang="en-IN"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42"/>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Future Scope </a:t>
            </a:r>
            <a:endParaRPr sz="2400" b="1" i="0" u="none" strike="noStrike" cap="none">
              <a:solidFill>
                <a:srgbClr val="000000"/>
              </a:solidFill>
              <a:latin typeface="Arial"/>
              <a:ea typeface="Arial"/>
              <a:cs typeface="Arial"/>
              <a:sym typeface="Arial"/>
            </a:endParaRPr>
          </a:p>
        </p:txBody>
      </p:sp>
      <p:sp>
        <p:nvSpPr>
          <p:cNvPr id="173" name="Google Shape;173;p42"/>
          <p:cNvSpPr/>
          <p:nvPr/>
        </p:nvSpPr>
        <p:spPr>
          <a:xfrm>
            <a:off x="1218724" y="1536736"/>
            <a:ext cx="9214580" cy="4277001"/>
          </a:xfrm>
          <a:prstGeom prst="rect">
            <a:avLst/>
          </a:prstGeom>
          <a:noFill/>
          <a:ln>
            <a:noFill/>
          </a:ln>
        </p:spPr>
        <p:txBody>
          <a:bodyPr spcFirstLastPara="1" wrap="square" lIns="0" tIns="0" rIns="0" bIns="0" anchor="t" anchorCtr="0">
            <a:noAutofit/>
          </a:bodyPr>
          <a:lstStyle/>
          <a:p>
            <a:pPr marL="457200" lvl="0" indent="-457200">
              <a:lnSpc>
                <a:spcPct val="162162"/>
              </a:lnSpc>
              <a:buClr>
                <a:srgbClr val="2B3541"/>
              </a:buClr>
              <a:buSzPts val="1850"/>
              <a:buFont typeface="+mj-lt"/>
              <a:buAutoNum type="arabicPeriod"/>
            </a:pPr>
            <a:r>
              <a:rPr lang="en-IN" sz="1800" b="1" dirty="0"/>
              <a:t>Multi-Language &amp; RAG Grounding</a:t>
            </a:r>
            <a:r>
              <a:rPr lang="en-IN" sz="1800" dirty="0"/>
              <a:t> – Add translation support for regional languages (Hindi, Marathi, Tamil, Bengali) to serve non-English-medium learners, and integrate Retrieval-Augmented Generation against verified syllabus/textbook sources to further strengthen factual accuracy. </a:t>
            </a:r>
          </a:p>
          <a:p>
            <a:pPr marL="457200" lvl="0" indent="-457200">
              <a:lnSpc>
                <a:spcPct val="162162"/>
              </a:lnSpc>
              <a:buClr>
                <a:srgbClr val="2B3541"/>
              </a:buClr>
              <a:buSzPts val="1850"/>
              <a:buFont typeface="+mj-lt"/>
              <a:buAutoNum type="arabicPeriod"/>
            </a:pPr>
            <a:endParaRPr lang="en-IN" sz="1800" b="1" dirty="0"/>
          </a:p>
          <a:p>
            <a:pPr marL="457200" lvl="0" indent="-457200">
              <a:lnSpc>
                <a:spcPct val="162162"/>
              </a:lnSpc>
              <a:buClr>
                <a:srgbClr val="2B3541"/>
              </a:buClr>
              <a:buSzPts val="1850"/>
              <a:buFont typeface="+mj-lt"/>
              <a:buAutoNum type="arabicPeriod"/>
            </a:pPr>
            <a:r>
              <a:rPr lang="en-IN" sz="1800" b="1" dirty="0"/>
              <a:t>Adaptive Personalization &amp; Accessibility</a:t>
            </a:r>
            <a:r>
              <a:rPr lang="en-IN" sz="1800" dirty="0"/>
              <a:t> – Use logged feedback (👍/👎) to refine prompts over time, extend session memory into persistent user history across visits, and add text-to-speech and dyslexia-friendly formatting for more inclusive learning.</a:t>
            </a:r>
            <a:endParaRPr sz="1800" b="0" i="0" u="none" strike="noStrike" cap="none" dirty="0">
              <a:solidFill>
                <a:srgbClr val="000000"/>
              </a:solidFill>
              <a:latin typeface="Times New Roman"/>
              <a:ea typeface="Times New Roman"/>
              <a:cs typeface="Times New Roman"/>
              <a:sym typeface="Times New Roman"/>
            </a:endParaRPr>
          </a:p>
        </p:txBody>
      </p:sp>
      <p:sp>
        <p:nvSpPr>
          <p:cNvPr id="174" name="Google Shape;174;p42"/>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5" name="Google Shape;175;p42"/>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6" name="Google Shape;176;p42"/>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2" name="Google Shape;182;p43"/>
          <p:cNvSpPr txBox="1"/>
          <p:nvPr/>
        </p:nvSpPr>
        <p:spPr>
          <a:xfrm>
            <a:off x="327949" y="207380"/>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Certificates Earned:</a:t>
            </a:r>
            <a:endParaRPr/>
          </a:p>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F21C5E14-DFDB-710D-F2ED-D05373E9EF91}"/>
              </a:ext>
            </a:extLst>
          </p:cNvPr>
          <p:cNvPicPr>
            <a:picLocks noChangeAspect="1"/>
          </p:cNvPicPr>
          <p:nvPr/>
        </p:nvPicPr>
        <p:blipFill>
          <a:blip r:embed="rId3"/>
          <a:stretch>
            <a:fillRect/>
          </a:stretch>
        </p:blipFill>
        <p:spPr>
          <a:xfrm>
            <a:off x="2587882" y="731382"/>
            <a:ext cx="7672134" cy="5759031"/>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0">
          <a:extLst>
            <a:ext uri="{FF2B5EF4-FFF2-40B4-BE49-F238E27FC236}">
              <a16:creationId xmlns:a16="http://schemas.microsoft.com/office/drawing/2014/main" id="{1D328AE7-EB8B-7786-9DC0-68CE7747E3B1}"/>
            </a:ext>
          </a:extLst>
        </p:cNvPr>
        <p:cNvGrpSpPr/>
        <p:nvPr/>
      </p:nvGrpSpPr>
      <p:grpSpPr>
        <a:xfrm>
          <a:off x="0" y="0"/>
          <a:ext cx="0" cy="0"/>
          <a:chOff x="0" y="0"/>
          <a:chExt cx="0" cy="0"/>
        </a:xfrm>
      </p:grpSpPr>
      <p:sp>
        <p:nvSpPr>
          <p:cNvPr id="182" name="Google Shape;182;p43">
            <a:extLst>
              <a:ext uri="{FF2B5EF4-FFF2-40B4-BE49-F238E27FC236}">
                <a16:creationId xmlns:a16="http://schemas.microsoft.com/office/drawing/2014/main" id="{2D162C78-2168-A6A2-09CF-4085C9721A82}"/>
              </a:ext>
            </a:extLst>
          </p:cNvPr>
          <p:cNvSpPr txBox="1"/>
          <p:nvPr/>
        </p:nvSpPr>
        <p:spPr>
          <a:xfrm>
            <a:off x="327949" y="207380"/>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Certificates Earned:</a:t>
            </a:r>
            <a:endParaRPr/>
          </a:p>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E7059562-2DE0-979C-0280-035F36C9B0C9}"/>
              </a:ext>
            </a:extLst>
          </p:cNvPr>
          <p:cNvPicPr>
            <a:picLocks noChangeAspect="1"/>
          </p:cNvPicPr>
          <p:nvPr/>
        </p:nvPicPr>
        <p:blipFill>
          <a:blip r:embed="rId3"/>
          <a:stretch>
            <a:fillRect/>
          </a:stretch>
        </p:blipFill>
        <p:spPr>
          <a:xfrm>
            <a:off x="2605998" y="748395"/>
            <a:ext cx="7635902" cy="5662151"/>
          </a:xfrm>
          <a:prstGeom prst="rect">
            <a:avLst/>
          </a:prstGeom>
        </p:spPr>
      </p:pic>
    </p:spTree>
    <p:extLst>
      <p:ext uri="{BB962C8B-B14F-4D97-AF65-F5344CB8AC3E}">
        <p14:creationId xmlns:p14="http://schemas.microsoft.com/office/powerpoint/2010/main" val="30146891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7">
          <a:extLst>
            <a:ext uri="{FF2B5EF4-FFF2-40B4-BE49-F238E27FC236}">
              <a16:creationId xmlns:a16="http://schemas.microsoft.com/office/drawing/2014/main" id="{8E53E382-8CB2-3A3B-E31B-171E463D691C}"/>
            </a:ext>
          </a:extLst>
        </p:cNvPr>
        <p:cNvGrpSpPr/>
        <p:nvPr/>
      </p:nvGrpSpPr>
      <p:grpSpPr>
        <a:xfrm>
          <a:off x="0" y="0"/>
          <a:ext cx="0" cy="0"/>
          <a:chOff x="0" y="0"/>
          <a:chExt cx="0" cy="0"/>
        </a:xfrm>
      </p:grpSpPr>
      <p:sp>
        <p:nvSpPr>
          <p:cNvPr id="189" name="Google Shape;189;p44">
            <a:extLst>
              <a:ext uri="{FF2B5EF4-FFF2-40B4-BE49-F238E27FC236}">
                <a16:creationId xmlns:a16="http://schemas.microsoft.com/office/drawing/2014/main" id="{00AD055A-06D5-BE59-B828-60BC337CD82B}"/>
              </a:ext>
            </a:extLst>
          </p:cNvPr>
          <p:cNvSpPr txBox="1"/>
          <p:nvPr/>
        </p:nvSpPr>
        <p:spPr>
          <a:xfrm>
            <a:off x="176696" y="226391"/>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Certificates Earned:</a:t>
            </a:r>
            <a:r>
              <a:rPr lang="en-US" sz="2400" b="0" i="0" u="none" strike="noStrike" cap="none">
                <a:solidFill>
                  <a:srgbClr val="000000"/>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5D9D218B-E326-CF3E-D979-EBD14FF822EF}"/>
              </a:ext>
            </a:extLst>
          </p:cNvPr>
          <p:cNvPicPr>
            <a:picLocks noChangeAspect="1"/>
          </p:cNvPicPr>
          <p:nvPr/>
        </p:nvPicPr>
        <p:blipFill>
          <a:blip r:embed="rId3"/>
          <a:stretch>
            <a:fillRect/>
          </a:stretch>
        </p:blipFill>
        <p:spPr>
          <a:xfrm>
            <a:off x="1617144" y="771262"/>
            <a:ext cx="8957712" cy="5570117"/>
          </a:xfrm>
          <a:prstGeom prst="rect">
            <a:avLst/>
          </a:prstGeom>
        </p:spPr>
      </p:pic>
    </p:spTree>
    <p:extLst>
      <p:ext uri="{BB962C8B-B14F-4D97-AF65-F5344CB8AC3E}">
        <p14:creationId xmlns:p14="http://schemas.microsoft.com/office/powerpoint/2010/main" val="40310655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9" name="Google Shape;189;p44"/>
          <p:cNvSpPr txBox="1"/>
          <p:nvPr/>
        </p:nvSpPr>
        <p:spPr>
          <a:xfrm>
            <a:off x="176696" y="226391"/>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Certificates Earned:</a:t>
            </a:r>
            <a:r>
              <a:rPr lang="en-US" sz="2400" b="0" i="0" u="none" strike="noStrike" cap="none">
                <a:solidFill>
                  <a:srgbClr val="000000"/>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5" name="Picture 4">
            <a:extLst>
              <a:ext uri="{FF2B5EF4-FFF2-40B4-BE49-F238E27FC236}">
                <a16:creationId xmlns:a16="http://schemas.microsoft.com/office/drawing/2014/main" id="{738ED71E-2F6D-8D98-2140-9517FDF8F860}"/>
              </a:ext>
            </a:extLst>
          </p:cNvPr>
          <p:cNvPicPr>
            <a:picLocks noChangeAspect="1"/>
          </p:cNvPicPr>
          <p:nvPr/>
        </p:nvPicPr>
        <p:blipFill>
          <a:blip r:embed="rId3"/>
          <a:stretch>
            <a:fillRect/>
          </a:stretch>
        </p:blipFill>
        <p:spPr>
          <a:xfrm>
            <a:off x="1666982" y="767252"/>
            <a:ext cx="9211427" cy="5716482"/>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pic>
        <p:nvPicPr>
          <p:cNvPr id="195" name="Google Shape;195;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1571</Words>
  <Application>Microsoft Office PowerPoint</Application>
  <PresentationFormat>Widescreen</PresentationFormat>
  <Paragraphs>145</Paragraphs>
  <Slides>21</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Manda Anirudh</dc:creator>
  <cp:lastModifiedBy>Drishti Gupta</cp:lastModifiedBy>
  <cp:revision>1</cp:revision>
  <dcterms:created xsi:type="dcterms:W3CDTF">2025-07-08T05:06:56Z</dcterms:created>
  <dcterms:modified xsi:type="dcterms:W3CDTF">2026-07-12T16:45:22Z</dcterms:modified>
</cp:coreProperties>
</file>